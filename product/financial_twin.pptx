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E8E8F0"/>
                </a:solidFill>
              </a:rPr>
              <a:t>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</a:rPr>
              <a:t>Financial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A8"/>
                </a:solidFill>
              </a:rPr>
              <a:t>Three AI Advisors. Three Visions of Your Financial Future. One Consensus.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651760"/>
            <a:ext cx="3017520" cy="16459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97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8F0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4AA9C"/>
                </a:solidFill>
              </a:rPr>
              <a:t>Alex 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GPT-4o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027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7.0% return · 2.5% inflation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651760"/>
            <a:ext cx="3017520" cy="16459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8F0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</a:rPr>
              <a:t>Morgan Wells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Gemini 2.0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027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5.0% return · 3.5% inflation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651760"/>
            <a:ext cx="3017520" cy="16459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697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8F0"/>
                </a:solidFill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7756"/>
                </a:solidFill>
              </a:rPr>
              <a:t>Jordan Rivera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Claude Sonnet 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027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6.5% return · 3.0% inflation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2002536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90288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MGMT690 · Spring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572000"/>
            <a:ext cx="1179576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4590288"/>
            <a:ext cx="996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Jasmin Kaur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72000"/>
            <a:ext cx="3319272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590288"/>
            <a:ext cx="3136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github.com/jasminkaur9/financial-twin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572000"/>
            <a:ext cx="3483863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590288"/>
            <a:ext cx="3300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numpy-financial · FRED API · instructor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A8"/>
                </a:solidFill>
              </a:rPr>
              <a:t>$530K divergence. Same person. Different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DEFINE — 开题调研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Gap No App Fills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Every finance app shows you the past. None simulate multiple plausible futures.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25603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WHAT EXISTS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Mint (RIP 2023) — showed transactions. That's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225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YNAB / Copilot — rule-based budgeting, single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1518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Monarch Money — beautiful UI, no multi-model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</a:rPr>
              <a:t>All ask: "Where did my money go?"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45920"/>
            <a:ext cx="5577840" cy="25603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55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WHAT'S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299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</a:rPr>
              <a:t>"Where is my money going? Across multiple plausible realities?"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225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Multi-LLM divergence — why do advisors disagree?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151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Quantified assumptions — not one model, but a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9077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FRED-grounded — real CPI, real Treasury yields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1155680" cy="640080"/>
          </a:xfrm>
          <a:prstGeom prst="rect">
            <a:avLst/>
          </a:prstGeom>
          <a:solidFill>
            <a:srgbClr val="03101A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62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分头研究 (Parallel Research) confirmed: google-generativeai deprecated → switched to google-genai. Found instructor library. Found FRED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REPRESENT —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</a:rPr>
              <a:t>The Three-Model Divergence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Not three answers — three reasoned disagreements that teach you what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155680" cy="192024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64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642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642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Inflation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64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Philosophy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4AA9C"/>
                </a:solidFill>
              </a:rPr>
              <a:t>⚡ Alex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GPT-4o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65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Aggressive: invest now. Market beats your debt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85F4"/>
                </a:solidFill>
              </a:rPr>
              <a:t>🛡️ Morgan Wells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Gemini 2.0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Conservative: emergency fund first, eliminate all debt.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A7756"/>
                </a:solidFill>
              </a:rPr>
              <a:t>⚖️ Jordan Rivera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Claude Sonnet 4.6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80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8F0"/>
                </a:solidFill>
              </a:rPr>
              <a:t>Evidence-based: balance investing + debt paydown.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11880"/>
            <a:ext cx="11155680" cy="822960"/>
          </a:xfrm>
          <a:prstGeom prst="rect">
            <a:avLst/>
          </a:prstGeom>
          <a:solidFill>
            <a:srgbClr val="030D18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7588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The 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Same person. Same income. Same debt. $530K difference in 30-year net worth — driven entirely by 2% return assumption spread. Making this visible is the product.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1155680" cy="68580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4AA9C"/>
                </a:solidFill>
              </a:rPr>
              <a:t>⚡ GPT-4o   ——————————————————————→  $1.40M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A7756"/>
                </a:solidFill>
              </a:rPr>
              <a:t>⚖️ Claude  ——————————————→  $1.15M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85F4"/>
                </a:solidFill>
              </a:rPr>
              <a:t>🛡️ Gemini ——————→  $870K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IMPLEMENT — AI as Cognition 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My Decisions. AI's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认知伙伴 — Neither creates alone. Both accountable.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320040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MY DECISIONS — NOT THE AI'S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Chose Personal Finance domain — simpler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225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Decided 'Financial Twin' angle over 3 other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1518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Crafted distinct personas + economic assumptions per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Chose instructor after research — not AI's first suggestion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Enforced FRED ground truth as validation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930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930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</a:rPr>
              <a:t>Modified AI outputs 12+ times based on financial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45920"/>
            <a:ext cx="5577840" cy="320040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55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WHAT THE AI CONTRIBUTED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0299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Heavy lifting on boilerplate code (Streamlit layout)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3225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First drafts of Pydantic schema (I refined them)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151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Research on deprecated libraries before I wrote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9077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Debugging ThreadPoolExecutor timing issues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200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2004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</a:rPr>
              <a:t>Suggestions I rejected with reasons (audit trail shows this)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155680" cy="548640"/>
          </a:xfrm>
          <a:prstGeom prst="rect">
            <a:avLst/>
          </a:prstGeom>
          <a:solidFill>
            <a:srgbClr val="03101A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932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A8"/>
                </a:solidFill>
              </a:rPr>
              <a:t>Full audit trail auto-logs every prompt, response, and iteration. Downloadable as JSON from the Audit Trail tab.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IMPLEMENT — Show Don't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App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</a:rPr>
              <a:t>jasminkaur9-financial-twin-app-npkpy9.streamlit.app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155680" cy="502920"/>
          </a:xfrm>
          <a:prstGeom prst="rect">
            <a:avLst/>
          </a:prstGeom>
          <a:solidFill>
            <a:srgbClr val="0D0D20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MONTHLY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$6,500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$4,200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DEBT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$18,000 @ 5.5%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691640"/>
            <a:ext cx="1234440" cy="411480"/>
          </a:xfrm>
          <a:prstGeom prst="rect">
            <a:avLst/>
          </a:prstGeom>
          <a:solidFill>
            <a:srgbClr val="06182A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1783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🚀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2697480" cy="59436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860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CURRENT NET WORTH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871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</a:rPr>
              <a:t>$6,000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2240280"/>
            <a:ext cx="2697480" cy="59436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22860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SAVINGS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4871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</a:rPr>
              <a:t>35.4%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2240280"/>
            <a:ext cx="2697480" cy="59436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22860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RETIREMENT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4871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</a:rPr>
              <a:t>Age 56–63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6256" y="2240280"/>
            <a:ext cx="2697480" cy="59436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22860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888A8"/>
                </a:solidFill>
              </a:rPr>
              <a:t>30-YEAR NET WORTH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24871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</a:rPr>
              <a:t>$1.15M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71800"/>
            <a:ext cx="3566160" cy="155448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971800"/>
            <a:ext cx="3566160" cy="38100"/>
          </a:xfrm>
          <a:prstGeom prst="rect">
            <a:avLst/>
          </a:prstGeom>
          <a:solidFill>
            <a:srgbClr val="74A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35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4AA9C"/>
                </a:solidFill>
              </a:rPr>
              <a:t>⚡ Alex Chen · 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7.0% return · 2.5% inflation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5387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E8F0"/>
                </a:solidFill>
              </a:rPr>
              <a:t>Retire: 56  ·  30yr: $1.40M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7952" y="2971800"/>
            <a:ext cx="3566160" cy="155448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87952" y="2971800"/>
            <a:ext cx="356616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3035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85F4"/>
                </a:solidFill>
              </a:rPr>
              <a:t>🛡️ Morgan Wells · Gemini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5.0% return · 3.5% inflation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35387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E8F0"/>
                </a:solidFill>
              </a:rPr>
              <a:t>Retire: 63  ·  30yr: $870K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18704" y="2971800"/>
            <a:ext cx="3566160" cy="155448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18704" y="2971800"/>
            <a:ext cx="3566160" cy="3810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55864" y="30358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A7756"/>
                </a:solidFill>
              </a:rPr>
              <a:t>⚖️ Jordan Rivera · Claude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4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6.5% return · 3.0% inflation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5864" y="35387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E8F0"/>
                </a:solidFill>
              </a:rPr>
              <a:t>Retire: 58  ·  30yr: $1.15M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09160"/>
            <a:ext cx="4636007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727448"/>
            <a:ext cx="445312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$530K divergence — same person, different assumptions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709160"/>
            <a:ext cx="2660903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79" y="4727448"/>
            <a:ext cx="2478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4 second parallel AI response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4709160"/>
            <a:ext cx="2743199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9" y="47274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Full audit trail → JSON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IMPLEMENT —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Expert-Level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Every choice made for a reason. Not just what works — what's 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4389120"/>
          </a:xfrm>
          <a:prstGeom prst="rect">
            <a:avLst/>
          </a:prstGeom>
          <a:solidFill>
            <a:srgbClr val="060614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8881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(Form / CSV Upload)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    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51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E676"/>
                </a:solidFill>
              </a:rPr>
              <a:t>numpy-financial Engine  ←── FRED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FV, PV, nper             CPI · 10Y Treasury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150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    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┌─────────────────────────────────┐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78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│  ThreadPoolExecutor (parallel)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210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│  GPT-4o │ Gemini 2.0 │ Claude  │  ← 4s not 18s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541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│  instructor + Pydantic schema   │  ← identical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873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└─────────────────────────────────┘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205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    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537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B2FBE"/>
                </a:solidFill>
              </a:rPr>
              <a:t>Synthesis + Statistical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8688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Pearson r · Spearman ρ · paired t-tests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200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    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32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D4FF"/>
                </a:solidFill>
              </a:rPr>
              <a:t>Plotly Dark Charts + Streamlit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864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>      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1957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E676"/>
                </a:solidFill>
              </a:rPr>
              <a:t>Audit Trail (auto-logged · JSON)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645920"/>
            <a:ext cx="5577840" cy="219456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755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KEY TECHNICAL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0299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instructor — all 3 models return identical Pydantic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3225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</a:rPr>
              <a:t>ThreadPoolExecutor — 4 seconds total, not 18 sequential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6151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google-genai not google-generativeai — deprecated, caught early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90779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Demo mode — same numpy-financial engine, no API keys needed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00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2004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76"/>
                </a:solidFill>
              </a:rPr>
              <a:t>scipy.stats — Pearson, Spearman, paired t-tests added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977639"/>
            <a:ext cx="5577840" cy="192024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0873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CI/CD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343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3434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GitHub Actions — lint + 34 tests on every push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6360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63600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pytest — known-answer + statistical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9286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92861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Secrets scan — fails build if API key exposed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VALIDATE — Cross-Checking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Trust But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34 tests passing · FRED ground truth · Statistical significance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A8"/>
                </a:solidFill>
              </a:rPr>
              <a:t>1. numpy-financial Known-Answer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11679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$18K @ 5.5% · $920/mo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0116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21.0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39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$12K lump sum @ 7% · 10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774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$23,598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432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$500/mo annuity @ 7% · 10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$86,420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632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8"/>
                </a:solidFill>
              </a:rPr>
              <a:t>34/34 pytest tests passing · runs on every GitHub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A8"/>
                </a:solidFill>
              </a:rPr>
              <a:t>3. Statistical Significance (scipy.stats)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490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 SIG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749039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GPT-4o vs Gemini — Pearson r, Spearman 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490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p &lt; 0.001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 SIG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148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Paired t-test: GPT-4o vs Gemini trajectory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114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p &lt; 0.001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5394960" cy="292608"/>
          </a:xfrm>
          <a:prstGeom prst="rect">
            <a:avLst/>
          </a:prstGeom>
          <a:solidFill>
            <a:srgbClr val="04120A"/>
          </a:solidFill>
          <a:ln w="9525">
            <a:solidFill>
              <a:srgbClr val="00E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055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480559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8"/>
                </a:solidFill>
              </a:rPr>
              <a:t>Year-30 divergence — coefficient of variation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48055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E8E8F0"/>
                </a:solidFill>
              </a:rPr>
              <a:t>CV ≈ 22%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8"/>
                </a:solidFill>
              </a:rPr>
              <a:t>High correlation (r ≈ 0.999) confirms divergence is structural — driven by assumptions, not noise.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645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A8"/>
                </a:solidFill>
              </a:rPr>
              <a:t>2. FRED API Ground Truth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965960"/>
            <a:ext cx="5577840" cy="182880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057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CPI Inflation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057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</a:rPr>
              <a:t>3.1%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574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2.5% – 3.5%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20574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67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587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10Y Treasury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2587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</a:rPr>
              <a:t>4.5%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2587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Risk premium 0.5–2.5%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25877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676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118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Fed Funds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31181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</a:rPr>
              <a:t>5.25%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118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8"/>
                </a:solidFill>
              </a:rPr>
              <a:t>Informs conservative outlook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311810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676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886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A8"/>
                </a:solidFill>
              </a:rPr>
              <a:t>4. Divergence Sanity Check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206240"/>
            <a:ext cx="5577840" cy="1005840"/>
          </a:xfrm>
          <a:prstGeom prst="rect">
            <a:avLst/>
          </a:prstGeom>
          <a:solidFill>
            <a:srgbClr val="04120A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297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2% return spread × 30 years of compounding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553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76"/>
                </a:solidFill>
              </a:rPr>
              <a:t>→  $530K gap on $1,300/mo investment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8280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4FF"/>
                </a:solidFill>
              </a:rPr>
              <a:t>FV(7%,360,-1300,0) − FV(5%,360,-1300,0) = $524K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EVOLVE —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</a:rPr>
              <a:t>I Operated It — Here's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Every prompt, every response, every iteration — auto-logged and downloadable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3749039"/>
          </a:xfrm>
          <a:prstGeom prst="rect">
            <a:avLst/>
          </a:prstGeom>
          <a:solidFill>
            <a:srgbClr val="040410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ACTUAL PROMPT SENT TO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D700"/>
                </a:solidFill>
              </a:rPr>
              <a:t>You are Jordan Rivera, an evidence-based financial advisor.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39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780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D4FF"/>
                </a:solidFill>
              </a:rPr>
              <a:t>YOUR FIXED ECONOMIC ASSUMPTIONS: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20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D4FF"/>
                </a:solidFill>
              </a:rPr>
              <a:t>· Annual market return: 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00D4FF"/>
                </a:solidFill>
              </a:rPr>
              <a:t>· Inflation rate: 3.0%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01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Client profile: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981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Age: 28  ·  Income: $6,500/mo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Debt: $18,000 @ 5.5%  ·  Savings: $12,000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462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8888A8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Return a FinancialAnalysis Pydantic object with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942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E8E8F0"/>
                </a:solidFill>
              </a:rPr>
              <a:t>year-by-year projections, years 0–30...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8"/>
                </a:solidFill>
              </a:rPr>
              <a:t>Same structure sent to GPT-4o and Gemini — only assumptions differ.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645920"/>
            <a:ext cx="5577840" cy="3749039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755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HOW I MODIFIED THE AI — 4 KEY ITERATIONS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029968"/>
            <a:ext cx="411480" cy="320040"/>
          </a:xfrm>
          <a:prstGeom prst="rect">
            <a:avLst/>
          </a:prstGeom>
          <a:solidFill>
            <a:srgbClr val="0A1422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0756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</a:rPr>
              <a:t>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299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Models gave identical answers → Fixed by enforcing different assumption sets in each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79776"/>
            <a:ext cx="411480" cy="320040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8254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77977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Gemini returned unstructured text → Added Pydantic schema + response_schema parameter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529584"/>
            <a:ext cx="411480" cy="320040"/>
          </a:xfrm>
          <a:prstGeom prst="rect">
            <a:avLst/>
          </a:prstGeom>
          <a:solidFill>
            <a:srgbClr val="0A1422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5753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76"/>
                </a:solidFill>
              </a:rPr>
              <a:t>v3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29584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Sequential calls took 18 seconds → Switched to ThreadPoolExecutor → 4 seconds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279392"/>
            <a:ext cx="411480" cy="320040"/>
          </a:xfrm>
          <a:prstGeom prst="rect">
            <a:avLst/>
          </a:prstGeom>
          <a:solidFill>
            <a:srgbClr val="0A1422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3251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800"/>
                </a:solidFill>
              </a:rPr>
              <a:t>v4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7939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F0"/>
                </a:solidFill>
              </a:rPr>
              <a:t>google-generativeai deprecated mid-build → Migrated to google-genai SDK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5074920"/>
            <a:ext cx="5577840" cy="457200"/>
          </a:xfrm>
          <a:prstGeom prst="rect">
            <a:avLst/>
          </a:prstGeom>
          <a:solidFill>
            <a:srgbClr val="03101A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A8"/>
                </a:solidFill>
              </a:rPr>
              <a:t>Full audit trail auto-logs in the app → Download button exports JSON for class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256032"/>
          </a:xfrm>
          <a:prstGeom prst="rect">
            <a:avLst/>
          </a:prstGeom>
          <a:solidFill>
            <a:srgbClr val="06101A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REFLECT —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</a:rPr>
              <a:t>The DRIVER Process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8"/>
                </a:solidFill>
              </a:rPr>
              <a:t>What the process revealed that planning alone never could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94960" cy="2560320"/>
          </a:xfrm>
          <a:prstGeom prst="rect">
            <a:avLst/>
          </a:prstGeom>
          <a:solidFill>
            <a:srgbClr val="031007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676"/>
                </a:solidFill>
              </a:rPr>
              <a:t>✅ 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76"/>
                </a:solidFill>
              </a:rPr>
              <a:t>分头研究 found instructor library — saved 2+ hours of JSON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225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Research caught google-generativeai deprecation before it broke anything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1518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Demo mode uses same numpy-financial engine → reliable demo without API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Pydantic schema enforcement made divergence analysis trivial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76"/>
                </a:solidFill>
              </a:rPr>
              <a:t>scipy.stats made divergence statistically verifiable (p &lt; 0.001)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5394960" cy="1417320"/>
          </a:xfrm>
          <a:prstGeom prst="rect">
            <a:avLst/>
          </a:prstGeom>
          <a:solidFill>
            <a:srgbClr val="10090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074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9800"/>
                </a:solidFill>
              </a:rPr>
              <a:t>⚠️ WHAT I'D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Start with async/await instead of ThreadPoolExecutor — cleaner parallel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5604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Add streaming responses — users see AI output appear in real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5577840" cy="1371600"/>
          </a:xfrm>
          <a:prstGeom prst="rect">
            <a:avLst/>
          </a:prstGeom>
          <a:solidFill>
            <a:srgbClr val="100E0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55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D700"/>
                </a:solidFill>
              </a:rPr>
              <a:t>🎯 THE REAL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99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8F0"/>
                </a:solidFill>
              </a:rPr>
              <a:t>Economic assumptions are the hidden variable in every financial forecast. Making them explicit — and confirming their divergence is statistically significant — is more valuable than any single 'right' answer.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154680"/>
            <a:ext cx="5577840" cy="2560320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2644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A8"/>
                </a:solidFill>
              </a:rPr>
              <a:t>FINAL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5387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3872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</a:rPr>
              <a:t>34/34 pytest tests passing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313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3133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3 frontier AI models in parallel (GPT-4o · Gemini · Claude)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23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12394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4s total AI response time (ThreadPoolExecutor)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4165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4165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</a:rPr>
              <a:t>7 interactive Plotly 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7091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0916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76"/>
                </a:solidFill>
              </a:rPr>
              <a:t>$530K divergence — statistically significant (p &lt; 0.001)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00176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00176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676"/>
                </a:solidFill>
              </a:rPr>
              <a:t>Pearson r, Spearman ρ, paired t-tests via scipy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3319272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07607"/>
            <a:ext cx="3136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github.com/jasminkaur9/financial-twin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5989320"/>
            <a:ext cx="1920239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39" y="6007607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Live Streamlit App 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5989320"/>
            <a:ext cx="1508760" cy="256032"/>
          </a:xfrm>
          <a:prstGeom prst="rect">
            <a:avLst/>
          </a:prstGeom>
          <a:solidFill>
            <a:srgbClr val="0A1422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6007607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D700"/>
                </a:solidFill>
              </a:rPr>
              <a:t>Substack Post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